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尊敬的各位老师，上午好/下午好。我是来自计算机科学与技术专业的学生[姓名]，学号是[学号]。今天我将向各位老师汇报我的本科毕业设计——《基于Qt的番茄计时与记账日记系统设计与实现》。本次汇报将从研究背景、系统设计、功能实现、技术难点、测试结果等多个方面展开，希望能得到各位老师的指导和批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想谈谈本课题的研究背景和选题意义。在日常学习和工作中，我们可能会用到番茄钟来专注工作，用记账软件管理开销，用日记记录生活，用OCR工具处理图片文字。但这些工具往往是独立的，来回切换非常不便。因此，我希望设计一个整合了这些功能的统一桌面系统，这不仅能提升用户的使用效率，也能作为我本科阶段对桌面应用开发技术的一次综合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上述背景，我的课题目标非常明确：就是开发一个多功能的桌面管理系统。这里列出了系统的核心功能模块，涵盖了从用户登录、时间管理、日常记录到数据统计和扩展功能的各个方面。接下来，我将详细介绍系统的架构和各个模块的具体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系统的总体架构设计。从流程上看，用户通过登录进入主界面，主界面采用多标签页设计，方便功能切换。在架构上，系统分为三层：界面层负责展示，服务层处理业务逻辑，会话层管理用户状态。这样的分层设计有助于模块解耦，提高代码的可维护性和可扩展性。这里是架构图的位置，图中会更清晰地展示各层之间的交互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介绍核心功能模块。首先是时间管理和日记模块。系统实现了经典的番茄计时和灵活的正向计时两种模式，满足不同的专注需求。同时，用户可以在每日日记中记录心得。这些功能共同形成了一个从专注工作到数据记录的完整链路，帮助用户更好地管理时间和总结生活。这里是番茄计时和日记页面的截图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第二个核心模块是记账管理。用户可以方便地录入日常开销，系统会以表格形式清晰展示。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为了优化交互，我设计了右键菜单，让常用操作更加便捷。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数据存储方面，我选择了JSON格式，这种格式易于读写和扩展，非常适合存储结构化的账单数据。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这里是记账页面和右键菜单的截图占位。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核心模块是数据统计与可视化。系统会自动统计用户的专注时间和消费情况，并通过我用QPainter自定义绘制的饼图和柱状图进行可视化展示。这样用户可以直观地看到自己的时间分配和消费习惯，为自我管理提供数据支持。这里展示的是统计页面和两种图表的截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核心功能，系统还设计了图片处理和文字识别的扩展模块。用户可以对图片进行简单的透视调整，并通过OCR入口提取图片中的文字。特别值得一提的是，我设计了统一的OCR服务接口，并预留了接入百度飞桨OCR的方案，这体现了系统的可扩展性和前瞻性。这里是图片处理和OCR识别结果的截图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在实现过程中，我运用了Qt框架的多种技术。比如用Qt Widgets搭建界面，用QTimer实现计时，用QPainter绘制图表，用QSS实现主题切换，用JSON进行数据存储。同时，也遇到了一些难点，比如如何保证计时精准、如何设计灵活的OCR接口等，这些都通过查阅资料和反复调试得到了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系统的质量，我进行了全面的测试。测试内容涵盖了所有核心功能，采用了手工测试和自动化测试相结合的方法。从测试结果可以看到，所有主要功能都运行正常，达到了预期的设计目标，系统的基本可用性得到了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本项目的特色在于功能整合、本地化设计和良好的交互体验，并预留了OCR扩展能力。但同时，作为一个毕业设计，它也存在一些不足，比如数据存储方式单一、安全性有待提升、OCR功能尚未完全集成等。这些都是我未来需要改进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对整个项目进行总结和展望。本项目基本完成了预期的设计目标，实现了一个功能较为完整的桌面管理系统。展望未来，我计划引入数据库、增加云同步功能、完善OCR集成，并深化数据分析能力，让这个系统变得更加完善和实用。我的汇报到此结束，感谢各位老师的聆听，请各位老师批评指正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notesSlides/notesSlide1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18" Target="../notesSlides/notesSlide3.xml" Type="http://schemas.openxmlformats.org/officeDocument/2006/relationships/notesSlid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notesSlides/notesSlide4.xml" Type="http://schemas.openxmlformats.org/officeDocument/2006/relationships/notesSlid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1.png" Type="http://schemas.openxmlformats.org/officeDocument/2006/relationships/image"/><Relationship Id="rId15" Target="../media/image62.svg" Type="http://schemas.openxmlformats.org/officeDocument/2006/relationships/image"/><Relationship Id="rId16" Target="../notesSlides/notesSlide5.xml" Type="http://schemas.openxmlformats.org/officeDocument/2006/relationships/notesSlid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notesSlides/notesSlide6.xml" Type="http://schemas.openxmlformats.org/officeDocument/2006/relationships/notesSlide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svg" Type="http://schemas.openxmlformats.org/officeDocument/2006/relationships/image"/><Relationship Id="rId12" Target="../media/image81.png" Type="http://schemas.openxmlformats.org/officeDocument/2006/relationships/image"/><Relationship Id="rId13" Target="../media/image82.svg" Type="http://schemas.openxmlformats.org/officeDocument/2006/relationships/image"/><Relationship Id="rId14" Target="../notesSlides/notesSlide7.xml" Type="http://schemas.openxmlformats.org/officeDocument/2006/relationships/notesSlide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7.png" Type="http://schemas.openxmlformats.org/officeDocument/2006/relationships/image"/><Relationship Id="rId7" Target="../media/image88.svg" Type="http://schemas.openxmlformats.org/officeDocument/2006/relationships/image"/><Relationship Id="rId8" Target="../media/image89.png" Type="http://schemas.openxmlformats.org/officeDocument/2006/relationships/image"/><Relationship Id="rId9" Target="../media/image9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97.png" Type="http://schemas.openxmlformats.org/officeDocument/2006/relationships/image"/><Relationship Id="rId13" Target="../media/image98.svg" Type="http://schemas.openxmlformats.org/officeDocument/2006/relationships/image"/><Relationship Id="rId14" Target="../media/image99.png" Type="http://schemas.openxmlformats.org/officeDocument/2006/relationships/image"/><Relationship Id="rId15" Target="../media/image100.svg" Type="http://schemas.openxmlformats.org/officeDocument/2006/relationships/image"/><Relationship Id="rId16" Target="../media/image101.png" Type="http://schemas.openxmlformats.org/officeDocument/2006/relationships/image"/><Relationship Id="rId17" Target="../media/image102.svg" Type="http://schemas.openxmlformats.org/officeDocument/2006/relationships/image"/><Relationship Id="rId18" Target="../media/image103.png" Type="http://schemas.openxmlformats.org/officeDocument/2006/relationships/image"/><Relationship Id="rId19" Target="../media/image104.svg" Type="http://schemas.openxmlformats.org/officeDocument/2006/relationships/image"/><Relationship Id="rId2" Target="../media/image91.png" Type="http://schemas.openxmlformats.org/officeDocument/2006/relationships/image"/><Relationship Id="rId20" Target="../media/image105.png" Type="http://schemas.openxmlformats.org/officeDocument/2006/relationships/image"/><Relationship Id="rId21" Target="../media/image106.svg" Type="http://schemas.openxmlformats.org/officeDocument/2006/relationships/image"/><Relationship Id="rId22" Target="../media/image107.png" Type="http://schemas.openxmlformats.org/officeDocument/2006/relationships/image"/><Relationship Id="rId23" Target="../media/image108.svg" Type="http://schemas.openxmlformats.org/officeDocument/2006/relationships/image"/><Relationship Id="rId24" Target="../notesSlides/notesSlide9.xml" Type="http://schemas.openxmlformats.org/officeDocument/2006/relationships/notesSlide"/><Relationship Id="rId3" Target="../media/image92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93.png" Type="http://schemas.openxmlformats.org/officeDocument/2006/relationships/image"/><Relationship Id="rId7" Target="../media/image94.svg" Type="http://schemas.openxmlformats.org/officeDocument/2006/relationships/image"/><Relationship Id="rId8" Target="../media/image95.png" Type="http://schemas.openxmlformats.org/officeDocument/2006/relationships/image"/><Relationship Id="rId9" Target="../media/image9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9.png" Type="http://schemas.openxmlformats.org/officeDocument/2006/relationships/image"/><Relationship Id="rId3" Target="../media/image110.svg" Type="http://schemas.openxmlformats.org/officeDocument/2006/relationships/image"/><Relationship Id="rId4" Target="../media/image111.png" Type="http://schemas.openxmlformats.org/officeDocument/2006/relationships/image"/><Relationship Id="rId5" Target="../media/image112.svg" Type="http://schemas.openxmlformats.org/officeDocument/2006/relationships/image"/><Relationship Id="rId6" Target="../media/image113.png" Type="http://schemas.openxmlformats.org/officeDocument/2006/relationships/image"/><Relationship Id="rId7" Target="../media/image114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svg" Type="http://schemas.openxmlformats.org/officeDocument/2006/relationships/image"/><Relationship Id="rId12" Target="../media/image125.png" Type="http://schemas.openxmlformats.org/officeDocument/2006/relationships/image"/><Relationship Id="rId13" Target="../media/image126.svg" Type="http://schemas.openxmlformats.org/officeDocument/2006/relationships/image"/><Relationship Id="rId14" Target="../media/image127.png" Type="http://schemas.openxmlformats.org/officeDocument/2006/relationships/image"/><Relationship Id="rId15" Target="../media/image128.svg" Type="http://schemas.openxmlformats.org/officeDocument/2006/relationships/image"/><Relationship Id="rId16" Target="../media/image129.png" Type="http://schemas.openxmlformats.org/officeDocument/2006/relationships/image"/><Relationship Id="rId17" Target="../media/image130.svg" Type="http://schemas.openxmlformats.org/officeDocument/2006/relationships/image"/><Relationship Id="rId18" Target="../media/image131.png" Type="http://schemas.openxmlformats.org/officeDocument/2006/relationships/image"/><Relationship Id="rId19" Target="../media/image132.svg" Type="http://schemas.openxmlformats.org/officeDocument/2006/relationships/image"/><Relationship Id="rId2" Target="../media/image115.png" Type="http://schemas.openxmlformats.org/officeDocument/2006/relationships/image"/><Relationship Id="rId20" Target="../media/image133.png" Type="http://schemas.openxmlformats.org/officeDocument/2006/relationships/image"/><Relationship Id="rId21" Target="../media/image134.svg" Type="http://schemas.openxmlformats.org/officeDocument/2006/relationships/image"/><Relationship Id="rId22" Target="../notesSlides/notesSlide11.xml" Type="http://schemas.openxmlformats.org/officeDocument/2006/relationships/notesSlide"/><Relationship Id="rId3" Target="../media/image116.svg" Type="http://schemas.openxmlformats.org/officeDocument/2006/relationships/image"/><Relationship Id="rId4" Target="../media/image117.png" Type="http://schemas.openxmlformats.org/officeDocument/2006/relationships/image"/><Relationship Id="rId5" Target="../media/image118.svg" Type="http://schemas.openxmlformats.org/officeDocument/2006/relationships/image"/><Relationship Id="rId6" Target="../media/image119.png" Type="http://schemas.openxmlformats.org/officeDocument/2006/relationships/image"/><Relationship Id="rId7" Target="../media/image120.svg" Type="http://schemas.openxmlformats.org/officeDocument/2006/relationships/image"/><Relationship Id="rId8" Target="../media/image121.png" Type="http://schemas.openxmlformats.org/officeDocument/2006/relationships/image"/><Relationship Id="rId9" Target="../media/image12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5.png" Type="http://schemas.openxmlformats.org/officeDocument/2006/relationships/image"/><Relationship Id="rId3" Target="../media/image136.svg" Type="http://schemas.openxmlformats.org/officeDocument/2006/relationships/image"/><Relationship Id="rId4" Target="../media/image137.png" Type="http://schemas.openxmlformats.org/officeDocument/2006/relationships/image"/><Relationship Id="rId5" Target="../media/image138.svg" Type="http://schemas.openxmlformats.org/officeDocument/2006/relationships/image"/><Relationship Id="rId6" Target="../media/image139.png" Type="http://schemas.openxmlformats.org/officeDocument/2006/relationships/image"/><Relationship Id="rId7" Target="../media/image140.svg" Type="http://schemas.openxmlformats.org/officeDocument/2006/relationships/image"/><Relationship Id="rId8" Target="../notesSlides/notesSlide12.xml" Type="http://schemas.openxmlformats.org/officeDocument/2006/relationships/notesSlide"/><Relationship Id="rId9" Target="../media/image1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397000" y="1016000"/>
            <a:ext cx="939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基于Qt的番茄计时与记账日记系统设计与实现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556000" y="190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本科毕业论文答辩汇报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2540000"/>
            <a:ext cx="762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94A3B8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921000" y="29210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302000" y="2870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学院：</a:t>
            </a:r>
            <a:r>
              <a:rPr lang="en-US" b="fals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[请在此处填写学院名称]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29210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731000" y="2870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专业：</a:t>
            </a:r>
            <a:r>
              <a:rPr lang="en-US" b="fals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计算机科学与技术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2921000" y="3429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302000" y="3378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学生姓名：</a:t>
            </a:r>
            <a:r>
              <a:rPr lang="en-US" b="fals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[请在此处填写学生姓名]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34290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731000" y="3378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学号：</a:t>
            </a:r>
            <a:r>
              <a:rPr lang="en-US" b="fals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[请在此处填写学号]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2921000" y="3937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302000" y="3886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</a:t>
            </a:r>
            <a:r>
              <a:rPr lang="en-US" b="fals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[请在此处填写指导教师姓名]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2921000" y="44450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3302000" y="43942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答辩日期：</a:t>
            </a:r>
            <a:r>
              <a:rPr lang="en-US" b="fals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[请在此处填写答辩日期]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359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研究背景与选题意义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41500"/>
            <a:ext cx="762000" cy="762000"/>
          </a:xfrm>
          <a:prstGeom prst="ellipse">
            <a:avLst/>
          </a:prstGeom>
          <a:solidFill>
            <a:srgbClr val="EF444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2032000"/>
            <a:ext cx="381000" cy="381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1778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现有工具的痛点：功能分散与操作繁琐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21590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目前市面上的效率管理工具（如番茄钟、记账、日记、OCR等）彼此独立，用户需频繁切换应用，导致操作流程割裂，整体效率低下。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9845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175000"/>
            <a:ext cx="762000" cy="762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206500" y="3365500"/>
            <a:ext cx="381000" cy="381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032000" y="31115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用户需求：一站式轻量级桌面端工具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32000" y="34925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用户迫切需要一个统一的平台，能够高效整合时间管理、日常记录和信息处理等功能，减少切换成本，实现轻量化办公。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18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635500"/>
            <a:ext cx="762000" cy="76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06500" y="4826000"/>
            <a:ext cx="381000" cy="381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032000" y="4445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选题意义：效率提升与技术实践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032000" y="4826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25000"/>
              </a:lnSpc>
              <a:buClr>
                <a:srgbClr val="6B7280"/>
              </a:buClr>
              <a:buChar char="•"/>
              <a:defRPr/>
            </a:pP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提升效率：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整合多模块功能，减少操作成本，显著提升个人效率管理与信息整合能力。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6B7280"/>
              </a:buClr>
              <a:buChar char="•"/>
            </a:pP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技术实践：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深入实践桌面应用开发技术，重点攻克Qt框架的应用难点，锻炼软件工程综合实践能力。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625856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课题目标与系统功能概览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81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7272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系统总体目标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330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设计并实现一个集番茄计时、正向计时、日记记录、记账管理、数据统计、图片处理及OCR识别于一体的桌面端综合管理系统，提供高效、便捷的个人信息管理解决方案。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1524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核心功能清单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0" y="2032000"/>
            <a:ext cx="3175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762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270500" y="2222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715000" y="2159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用户登录与本地会话管理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509000" y="2032000"/>
            <a:ext cx="2921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762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699500" y="2222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144000" y="2159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番茄计时与正向计时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0" y="2921000"/>
            <a:ext cx="3175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762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270500" y="3111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715000" y="3048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日记记录模块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509000" y="2921000"/>
            <a:ext cx="2921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762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699500" y="3111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144000" y="3048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记账管理 (增删改查)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0" y="3810000"/>
            <a:ext cx="3175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762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5270500" y="4000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5715000" y="39370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数据统计与可视化模块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509000" y="3810000"/>
            <a:ext cx="2921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762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699500" y="4000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9144000" y="3937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日间/夜间主题切换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80000" y="4699000"/>
            <a:ext cx="635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762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5270500" y="48895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5715000" y="48260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图片处理与文字识别（OCR）扩展模块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715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3B82F6">
              <a:alpha val="10000"/>
            </a:srgbClr>
          </a:solidFill>
          <a:ln w="12700" cmpd="sng" cap="flat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16000" y="571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4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本系统旨在通过集成化设计，解决用户在时间、财务及日常信息管理中的碎片化痛点，打造一站式桌面管理中心。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3581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71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系统流程概览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2352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身份验证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通过登录窗口验证用户身份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9337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主窗口入口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验证成功后进入系统主界面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683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6322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多标签管理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模块化功能组织，便捷切换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524000"/>
            <a:ext cx="7112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171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分层架构体系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2286000"/>
            <a:ext cx="6604000" cy="762000"/>
          </a:xfrm>
          <a:prstGeom prst="roundRect">
            <a:avLst>
              <a:gd name="adj" fmla="val 8333"/>
            </a:avLst>
          </a:prstGeom>
          <a:solidFill>
            <a:srgbClr val="EFF6FF">
              <a:alpha val="6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762500" y="2463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270500" y="2387600"/>
            <a:ext cx="571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界面层 (UI Layer)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负责与用户交互，包含所有窗口、控件布局与视觉呈现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3175000"/>
            <a:ext cx="6604000" cy="762000"/>
          </a:xfrm>
          <a:prstGeom prst="roundRect">
            <a:avLst>
              <a:gd name="adj" fmla="val 8333"/>
            </a:avLst>
          </a:prstGeom>
          <a:solidFill>
            <a:srgbClr val="EFF6FF">
              <a:alpha val="6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762500" y="33528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270500" y="3276600"/>
            <a:ext cx="571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服务层 (Service Layer)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封装核心业务逻辑，处理计时、数据运算及文件读写操作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72000" y="4064000"/>
            <a:ext cx="6604000" cy="762000"/>
          </a:xfrm>
          <a:prstGeom prst="roundRect">
            <a:avLst>
              <a:gd name="adj" fmla="val 8333"/>
            </a:avLst>
          </a:prstGeom>
          <a:solidFill>
            <a:srgbClr val="EFF6FF">
              <a:alpha val="6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762500" y="42418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270500" y="4165600"/>
            <a:ext cx="571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会话层 (Session Layer)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管理用户会话状态，确保多用户数据隔离与系统安全性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558800" cy="558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778000" y="5461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【此处插入系统总体架构图】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图示将直观展示界面层、服务层与会话层之间的交互关系及数据流向，体现模块解耦设计。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核心功能模块一：番茄计时、正向计时与日记模块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080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587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专注计时：双模式驱动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574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番茄计时 (Pomodoro)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97000" y="2413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经典工作法实现，自定义工作与休息时长，结束时弹窗+声音双重提醒。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0099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正向计时 (Flexible)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97000" y="33655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无固定时长限制，自由记录任意专注活动，适应突发任务与深度工作。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397000"/>
            <a:ext cx="5080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1587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日记模块：思想沉淀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04000" y="2095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85000" y="20574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每日复盘与记录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985000" y="2413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支持按日期撰写纯文本日记，内容本地持久化存储，便于随时回顾与总结。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3048000"/>
            <a:ext cx="4572000" cy="1016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3365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【此处插入日记页面截图】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572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762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数据链路：从行为到思想的完整闭环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270500"/>
            <a:ext cx="3048000" cy="5080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143000" y="53721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5334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专注行为数据 (量化)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191000" y="53721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4635500" y="5270500"/>
            <a:ext cx="3048000" cy="508000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762500" y="53721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143500" y="5334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日记思想沉淀 (质化)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810500" y="53721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8255000" y="5270500"/>
            <a:ext cx="2921000" cy="508000"/>
          </a:xfrm>
          <a:prstGeom prst="roundRect">
            <a:avLst>
              <a:gd name="adj" fmla="val 5000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382000" y="53721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763000" y="533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个人成长数字资产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759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核心功能模块二：记账管理模块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463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74800" y="2006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账单录入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74800" y="2336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支持录入事项、金额及餐饮/交通等类型标签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845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2258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74800" y="30861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账单管理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74800" y="34163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表格化展示数据，支持对单条账单进行编辑与删除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064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3053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74800" y="4165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交互优化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74800" y="4495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集成右键菜单，一键呼出常用操作，提升操作效率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1435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384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74800" y="52451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74800" y="55753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采用JSON格式逐行存储于本地文件，易于解析维护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905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315200" y="2286000"/>
            <a:ext cx="609600" cy="609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350000" y="3048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记账页面截图占位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44000" y="1905000"/>
            <a:ext cx="2540000" cy="1778000"/>
          </a:xfrm>
          <a:prstGeom prst="roundRect">
            <a:avLst>
              <a:gd name="adj" fmla="val 7142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09200" y="22860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144000" y="3048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右键菜单操作截图占位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50000" y="3937000"/>
            <a:ext cx="5334000" cy="2095500"/>
          </a:xfrm>
          <a:prstGeom prst="roundRect">
            <a:avLst>
              <a:gd name="adj" fmla="val 6060"/>
            </a:avLst>
          </a:prstGeom>
          <a:solidFill>
            <a:srgbClr val="3B82F6">
              <a:alpha val="5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04000" y="4191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设计亮点与价值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04000" y="4572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4B5563"/>
              </a:buClr>
              <a:buChar char="•"/>
              <a:defRPr/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结构化存储：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JSON格式不仅易于人眼阅读，也便于程序后续进行数据分析与报表生成。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用户体验：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表格化展示配合右键菜单，极大地降低了用户的操作门槛，符合桌面端软件的操作直觉。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核心功能模块三：数据统计与可视化模块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587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专注统计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19685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统计周、月维度的专注总时长，量化时间投入，帮助用户掌握效率节奏。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8575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048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消费统计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3429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分析消费总额、均值及极值，按类型分类统计，清晰呈现资金流向。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318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508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自定义可视化引擎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51000" y="48895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Qt QPainter 绘制自定义图表组件，支持饼图、柱状图等多样化展示。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096000" y="1397000"/>
            <a:ext cx="5334000" cy="1524000"/>
          </a:xfrm>
          <a:prstGeom prst="roundRect">
            <a:avLst>
              <a:gd name="adj" fmla="val 8333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445500" y="1714500"/>
            <a:ext cx="635000" cy="635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096000" y="2413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【统计页面概览截图】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3111500"/>
            <a:ext cx="2540000" cy="1651000"/>
          </a:xfrm>
          <a:prstGeom prst="roundRect">
            <a:avLst>
              <a:gd name="adj" fmla="val 7692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985000" y="3365500"/>
            <a:ext cx="762000" cy="762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096000" y="4254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【饼状图截图】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0" y="3111500"/>
            <a:ext cx="2540000" cy="1651000"/>
          </a:xfrm>
          <a:prstGeom prst="roundRect">
            <a:avLst>
              <a:gd name="adj" fmla="val 7692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779000" y="3365500"/>
            <a:ext cx="762000" cy="762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890000" y="4254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【柱状图截图】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54000" y="6413500"/>
            <a:ext cx="1168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Qt 绘图机制的高性能数据可视化展示方案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8940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扩展功能模块：图片处理与文字识别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1600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图片处理模块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08333"/>
              </a:lnSpc>
              <a:buClr>
                <a:srgbClr val="4B5563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支持本地图片导入与预览功能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08333"/>
              </a:lnSpc>
              <a:buClr>
                <a:srgbClr val="4B5563"/>
              </a:buClr>
              <a:buChar char="•"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集成透视变换算法，支持对倾斜图片进行角度矫正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08333"/>
              </a:lnSpc>
              <a:buClr>
                <a:srgbClr val="4B5563"/>
              </a:buClr>
              <a:buChar char="•"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支持保存处理后的高清图片至本地或系统库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397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1651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12000" y="1600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OCR 文字识别服务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1590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08333"/>
              </a:lnSpc>
              <a:buClr>
                <a:srgbClr val="4B5563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提供统一的 OcrService 接口，封装识别流程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08333"/>
              </a:lnSpc>
              <a:buClr>
                <a:srgbClr val="4B5563"/>
              </a:buClr>
              <a:buChar char="•"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用户可一键选择图片触发文字提取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08333"/>
              </a:lnSpc>
              <a:buClr>
                <a:srgbClr val="4B5563"/>
              </a:buClr>
              <a:buChar char="•"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预留接口，支持灵活接入百度飞桨等第三方识别引擎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2794000" y="4445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62000" y="5080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【此处插入图片处理页面截图】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191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82000" y="4445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350000" y="5080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【此处插入OCR识别结果截图】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470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关键技术与实现难点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1435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4500"/>
            <a:ext cx="463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 (Key Technologies)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184400"/>
            <a:ext cx="425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Qt Widgets：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构建桌面图形用户界面 (GUI)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628900"/>
            <a:ext cx="425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QTimer：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番茄计时与正向计时的精确控制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111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073400"/>
            <a:ext cx="425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QPainter：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绘制自定义图表，实现数据可视化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3517900"/>
            <a:ext cx="425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QSS：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实现日间/夜间主题的动态切换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3962400"/>
            <a:ext cx="425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JSON：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账单数据本地存储与模块解耦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397000" y="4406900"/>
            <a:ext cx="425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OCR抽象：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设计通用接口，支持第三方接入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86500" y="1524000"/>
            <a:ext cx="51435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40500" y="1714500"/>
            <a:ext cx="463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实现难点与挑战 (Challenges)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540500" y="2286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21500" y="2247900"/>
            <a:ext cx="425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计时稳定性：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多任务环境下保证番茄钟计时的准确性与低延迟。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540500" y="2857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921500" y="2819400"/>
            <a:ext cx="425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图表实时性：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自定义绘制的图表在数据频繁变动时的实时渲染与刷新优化。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540500" y="34290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21500" y="3390900"/>
            <a:ext cx="425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接口扩展性：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设计灵活的OCR接入方案，降低未来集成不同服务商的耦合度。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6540500" y="4000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921500" y="3962400"/>
            <a:ext cx="425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在功能丰富的同时，重点优化软件的冷启动速度和运行内存占用。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406400" cy="406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524000" y="5613400"/>
            <a:ext cx="965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通过合理运用Qt框架特性解决了界面、计时、图表等核心需求，并针对计时稳定性和接口扩展性等难点进行了专项攻克，确保了系统的健壮性。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40259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系统测试与结果分析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587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5494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测试方法：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采用手工测试与QTest自动化测试相结合的方式，对系统功能进行全面验证。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19304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18796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测试内容：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覆盖用户登录、番茄计时、日记记录、记账管理、数据统计、主题切换、图片处理及OCR入口等核心功能。</a:t>
            </a:r>
            <a:endParaRPr lang="en-US" sz="1100"/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62000" y="2540000"/>
          <a:ext cx="10668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286000"/>
                <a:gridCol w="3048000"/>
                <a:gridCol w="1778000"/>
                <a:gridCol w="1905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E3A8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E3A8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E3A8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预期结果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E3A8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实际结果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E3A8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测试状态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用户登录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账号密码验证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验证成功进入主界面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符合预期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番茄计时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启动/暂停/完成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计时准确，提醒正常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符合预期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记账管理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新增/编辑/删除账单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操作成功，数据正确保存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符合预期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数据统计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生成图表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图表数据准确，展示正常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符合预期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OCR模块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打开图片并调用识别入口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界面响应正常，流程完整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符合预期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0" id="10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10B981">
              <a:alpha val="1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7912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5689600"/>
            <a:ext cx="965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测试结论：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系统各功能模块运行正常，流程完整，结果正确，达到了预期的设计目标。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5359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项目特色、创新点与不足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460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特色与创新点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549" flipH="false" flipV="false">
            <a:off x="1016009" y="183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981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多模块整合：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集时间管理、记账、OCR等功能于一体，实现一站式管理。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5527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本地化轻量设计：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纯本地文件存储，无服务器依赖，运行快且注重隐私保护。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124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可视化统计展示：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自定义图表直观呈现数据，帮助用户洞察行为习惯。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36957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OCR扩展设计：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预留OCR服务接入能力，具备良好的系统可扩展性。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4267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良好的交互体验：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支持夜间模式、右键菜单及平滑动画，提升操作流畅度。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270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1460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不足之处与改进方向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604009" y="183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1981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存储方式单一：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仅支持本地文件存储，跨设备同步和备份较为不便。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04000" y="26035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25527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安全性待加强：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用户登录机制较为基础，需引入更完善的加密和鉴权体系。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604000" y="3175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85000" y="3124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OCR集成度低：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百度飞桨OCR尚未完全接入业务流程，识别稳定性有待验证。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604000" y="37465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985000" y="36957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统计深度不足：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数据分析维度较浅，缺乏对长期趋势和关联因素的深度挖掘。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2563EB">
              <a:alpha val="10000"/>
            </a:srgbClr>
          </a:solidFill>
          <a:ln w="12700" cmpd="sng" cap="flat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1016000" y="57912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460500" y="5715000"/>
            <a:ext cx="977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项目在功能整合与本地化体验上具有创新性，但受限于开发周期，在数据同步、安全性及OCR深度集成方面仍有较大的提升空间。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2235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87500"/>
            <a:ext cx="508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133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本项目成功设计并实现了一个基于Qt的多功能桌面管理系统，完成了番茄计时、记账、日记、统计等核心功能的开发，并预留了OCR扩展能力，达到了毕业设计的预期目标。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905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215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133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603500"/>
            <a:ext cx="457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08333"/>
              </a:lnSpc>
              <a:buClr>
                <a:srgbClr val="646A73"/>
              </a:buClr>
              <a:buChar char="•"/>
              <a:defRPr/>
            </a:pPr>
            <a:r>
              <a:rPr lang="en-US" b="tru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引入数据库：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迁移至SQLite，提升数据管理能力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08333"/>
              </a:lnSpc>
              <a:buClr>
                <a:srgbClr val="646A73"/>
              </a:buClr>
              <a:buChar char="•"/>
            </a:pPr>
            <a:r>
              <a:rPr lang="en-US" b="tru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增加同步能力：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开发云同步，支持多设备共享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08333"/>
              </a:lnSpc>
              <a:buClr>
                <a:srgbClr val="646A73"/>
              </a:buClr>
              <a:buChar char="•"/>
            </a:pPr>
            <a:r>
              <a:rPr lang="en-US" b="tru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完善OCR集成：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接入API，探索与记账模块联动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08333"/>
              </a:lnSpc>
              <a:buClr>
                <a:srgbClr val="646A73"/>
              </a:buClr>
              <a:buChar char="•"/>
            </a:pPr>
            <a:r>
              <a:rPr lang="en-US" b="tru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深化统计分析：</a:t>
            </a:r>
            <a:r>
              <a:rPr lang="en-US" b="false" i="false" strike="noStrike" u="none" sz="13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增加多维数据洞察与可视化展示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3B82F6">
              <a:alpha val="1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143000" y="4953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905000" y="4978400"/>
            <a:ext cx="889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谢谢各位老师，请批评指正！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